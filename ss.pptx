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53068"/>
          </a:solidFill>
          <a:ln>
            <a:solidFill>
              <a:srgbClr val="0530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37160"/>
            <a:ext cx="6400800" cy="384048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ptos"/>
              </a:defRPr>
            </a:pPr>
            <a:r>
              <a:t>VSaaS Container Gating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" y="566928"/>
            <a:ext cx="7772400" cy="256032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Aptos"/>
              </a:defRPr>
            </a:pPr>
            <a:r>
              <a:t>From visibility to enforcement in Lightspeed Enterprise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55480" y="210312"/>
            <a:ext cx="2240280" cy="228600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Aptos"/>
              </a:defRPr>
            </a:pPr>
            <a:r>
              <a:t>LIGHTSPEED 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64040" y="539496"/>
            <a:ext cx="2331720" cy="210312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r">
              <a:defRPr sz="1000" b="0">
                <a:solidFill>
                  <a:srgbClr val="BED2EB"/>
                </a:solidFill>
                <a:latin typeface="Aptos"/>
              </a:defRPr>
            </a:pPr>
            <a:r>
              <a:t>Container 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298448"/>
            <a:ext cx="2743200" cy="274320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>
              <a:defRPr sz="1600" b="1">
                <a:solidFill>
                  <a:srgbClr val="195EB4"/>
                </a:solidFill>
                <a:latin typeface="Aptos"/>
              </a:defRPr>
            </a:pPr>
            <a:r>
              <a:t>WHAT'S CHANGING?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3192" y="1664208"/>
            <a:ext cx="534924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E1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810512"/>
            <a:ext cx="1920240" cy="256032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>
              <a:defRPr sz="1300" b="1">
                <a:solidFill>
                  <a:srgbClr val="009169"/>
                </a:solidFill>
                <a:latin typeface="Aptos"/>
              </a:defRPr>
            </a:pPr>
            <a:r>
              <a:t>TODAY  •  SOFT GATING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139696"/>
            <a:ext cx="4754880" cy="457200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>
              <a:defRPr sz="1100" b="0">
                <a:solidFill>
                  <a:srgbClr val="19304C"/>
                </a:solidFill>
                <a:latin typeface="Aptos"/>
              </a:defRPr>
            </a:pPr>
            <a:r>
              <a:t>VSaaS scans images and provides actionable PASS / FAIL results in LSE.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89320" y="1664208"/>
            <a:ext cx="580644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F4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90488" y="1810512"/>
            <a:ext cx="2103120" cy="256032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>
              <a:defRPr sz="1300" b="1">
                <a:solidFill>
                  <a:srgbClr val="DC2626"/>
                </a:solidFill>
                <a:latin typeface="Aptos"/>
              </a:defRPr>
            </a:pPr>
            <a:r>
              <a:t>NEXT  •  HARD GATING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90488" y="2139696"/>
            <a:ext cx="5257800" cy="475488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>
              <a:defRPr sz="1100" b="0">
                <a:solidFill>
                  <a:srgbClr val="19304C"/>
                </a:solidFill>
                <a:latin typeface="Aptos"/>
              </a:defRPr>
            </a:pPr>
            <a:r>
              <a:t>Failing images will be blocked from higher-environment deployment until remediated or an approved exception is in place.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3090672"/>
            <a:ext cx="2926080" cy="274320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>
              <a:defRPr sz="1600" b="1">
                <a:solidFill>
                  <a:srgbClr val="195EB4"/>
                </a:solidFill>
                <a:latin typeface="Aptos"/>
              </a:defRPr>
            </a:pPr>
            <a:r>
              <a:t>WHAT DOES THE GATE CHECK?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3456432"/>
            <a:ext cx="3502152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6072" y="3602736"/>
            <a:ext cx="1371600" cy="228600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>
              <a:defRPr sz="1300" b="1">
                <a:solidFill>
                  <a:srgbClr val="DC2626"/>
                </a:solidFill>
                <a:latin typeface="Aptos"/>
              </a:defRPr>
            </a:pPr>
            <a:r>
              <a:t>GEMs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2" y="3886200"/>
            <a:ext cx="3154680" cy="256032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>
              <a:defRPr sz="1000" b="0">
                <a:solidFill>
                  <a:srgbClr val="19304C"/>
                </a:solidFill>
                <a:latin typeface="Aptos"/>
              </a:defRPr>
            </a:pPr>
            <a:r>
              <a:t>Security-critical vulnerabilities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33672" y="3456432"/>
            <a:ext cx="3502152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27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98264" y="3602736"/>
            <a:ext cx="1371600" cy="228600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>
              <a:defRPr sz="1300" b="1">
                <a:solidFill>
                  <a:srgbClr val="D27D00"/>
                </a:solidFill>
                <a:latin typeface="Aptos"/>
              </a:defRPr>
            </a:pPr>
            <a:r>
              <a:t>Malware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98264" y="3886200"/>
            <a:ext cx="3154680" cy="256032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>
              <a:defRPr sz="1000" b="0">
                <a:solidFill>
                  <a:srgbClr val="19304C"/>
                </a:solidFill>
                <a:latin typeface="Aptos"/>
              </a:defRPr>
            </a:pPr>
            <a:r>
              <a:t>Potentially compromised images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55863" y="3456432"/>
            <a:ext cx="3502152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195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5" y="3602736"/>
            <a:ext cx="1371600" cy="228600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>
              <a:defRPr sz="1300" b="1">
                <a:solidFill>
                  <a:srgbClr val="195EB4"/>
                </a:solidFill>
                <a:latin typeface="Aptos"/>
              </a:defRPr>
            </a:pPr>
            <a:r>
              <a:t>Base Image 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5" y="3886200"/>
            <a:ext cx="3154680" cy="256032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>
              <a:defRPr sz="1000" b="0">
                <a:solidFill>
                  <a:srgbClr val="19304C"/>
                </a:solidFill>
                <a:latin typeface="Aptos"/>
              </a:defRPr>
            </a:pPr>
            <a:r>
              <a:t>Images beyond the policy limit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4526280"/>
            <a:ext cx="1828800" cy="274320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>
              <a:defRPr sz="1600" b="1">
                <a:solidFill>
                  <a:srgbClr val="195EB4"/>
                </a:solidFill>
                <a:latin typeface="Aptos"/>
              </a:defRPr>
            </a:pPr>
            <a:r>
              <a:t>ROLLOUT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1480" y="4882896"/>
            <a:ext cx="3502152" cy="960120"/>
          </a:xfrm>
          <a:prstGeom prst="roundRect">
            <a:avLst/>
          </a:prstGeom>
          <a:solidFill>
            <a:srgbClr val="F6F9FD"/>
          </a:solidFill>
          <a:ln>
            <a:solidFill>
              <a:srgbClr val="E1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57784" y="5029200"/>
            <a:ext cx="960120" cy="210312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>
              <a:defRPr sz="1100" b="1">
                <a:solidFill>
                  <a:srgbClr val="195EB4"/>
                </a:solidFill>
                <a:latin typeface="Aptos"/>
              </a:defRPr>
            </a:pPr>
            <a:r>
              <a:t>NOW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7784" y="5285232"/>
            <a:ext cx="3063240" cy="210312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>
              <a:defRPr sz="1200" b="1">
                <a:solidFill>
                  <a:srgbClr val="19304C"/>
                </a:solidFill>
                <a:latin typeface="Aptos"/>
              </a:defRPr>
            </a:pPr>
            <a:r>
              <a:t>Review VSaaS reports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7784" y="5559552"/>
            <a:ext cx="3063240" cy="201168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>
              <a:defRPr sz="900" b="0">
                <a:solidFill>
                  <a:srgbClr val="64768A"/>
                </a:solidFill>
                <a:latin typeface="Aptos"/>
              </a:defRPr>
            </a:pPr>
            <a:r>
              <a:t>Identify &amp; remediate failures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33672" y="4882896"/>
            <a:ext cx="3502152" cy="960120"/>
          </a:xfrm>
          <a:prstGeom prst="roundRect">
            <a:avLst/>
          </a:prstGeom>
          <a:solidFill>
            <a:srgbClr val="F6F9FD"/>
          </a:solidFill>
          <a:ln>
            <a:solidFill>
              <a:srgbClr val="E1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79976" y="5029200"/>
            <a:ext cx="960120" cy="210312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>
              <a:defRPr sz="1100" b="1">
                <a:solidFill>
                  <a:srgbClr val="195EB4"/>
                </a:solidFill>
                <a:latin typeface="Aptos"/>
              </a:defRPr>
            </a:pPr>
            <a:r>
              <a:t>30 SEPT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79976" y="5285232"/>
            <a:ext cx="3063240" cy="210312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>
              <a:defRPr sz="1200" b="1">
                <a:solidFill>
                  <a:srgbClr val="19304C"/>
                </a:solidFill>
                <a:latin typeface="Aptos"/>
              </a:defRPr>
            </a:pPr>
            <a:r>
              <a:t>Prepare your images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79976" y="5559552"/>
            <a:ext cx="3063240" cy="201168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>
              <a:defRPr sz="900" b="0">
                <a:solidFill>
                  <a:srgbClr val="64768A"/>
                </a:solidFill>
                <a:latin typeface="Aptos"/>
              </a:defRPr>
            </a:pPr>
            <a:r>
              <a:t>Target to have failures addressed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55863" y="4882896"/>
            <a:ext cx="3502152" cy="960120"/>
          </a:xfrm>
          <a:prstGeom prst="roundRect">
            <a:avLst/>
          </a:prstGeom>
          <a:solidFill>
            <a:srgbClr val="F6F9FD"/>
          </a:solidFill>
          <a:ln>
            <a:solidFill>
              <a:srgbClr val="E1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02167" y="5029200"/>
            <a:ext cx="960120" cy="210312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>
              <a:defRPr sz="1100" b="1">
                <a:solidFill>
                  <a:srgbClr val="195EB4"/>
                </a:solidFill>
                <a:latin typeface="Aptos"/>
              </a:defRPr>
            </a:pPr>
            <a:r>
              <a:t>NOV 2026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02167" y="5285232"/>
            <a:ext cx="3063240" cy="210312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>
              <a:defRPr sz="1200" b="1">
                <a:solidFill>
                  <a:srgbClr val="19304C"/>
                </a:solidFill>
                <a:latin typeface="Aptos"/>
              </a:defRPr>
            </a:pPr>
            <a:r>
              <a:t>Phased Hard Gating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02167" y="5559552"/>
            <a:ext cx="3063240" cy="201168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>
              <a:defRPr sz="900" b="0">
                <a:solidFill>
                  <a:srgbClr val="64768A"/>
                </a:solidFill>
                <a:latin typeface="Aptos"/>
              </a:defRPr>
            </a:pPr>
            <a:r>
              <a:t>Expansion across LSE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11480" y="6053328"/>
            <a:ext cx="11384280" cy="384048"/>
          </a:xfrm>
          <a:prstGeom prst="roundRect">
            <a:avLst/>
          </a:prstGeom>
          <a:solidFill>
            <a:srgbClr val="053068"/>
          </a:solidFill>
          <a:ln>
            <a:solidFill>
              <a:srgbClr val="0530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1792" y="6117336"/>
            <a:ext cx="7955279" cy="210312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ptos"/>
              </a:defRPr>
            </a:pPr>
            <a:r>
              <a:t>PREPARE NOW:  Review  →  Remediate  →  Rebuild  →  Re-run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35440" y="6117336"/>
            <a:ext cx="2331720" cy="210312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r">
              <a:defRPr sz="900" b="0">
                <a:solidFill>
                  <a:srgbClr val="FFFFFF"/>
                </a:solidFill>
                <a:latin typeface="Aptos"/>
              </a:defRPr>
            </a:pPr>
            <a:r>
              <a:t>go/image-age  |  VSaaS Support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1480" y="6547104"/>
            <a:ext cx="6400800" cy="146304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l">
              <a:defRPr sz="800" b="0">
                <a:solidFill>
                  <a:srgbClr val="64768A"/>
                </a:solidFill>
                <a:latin typeface="Aptos"/>
              </a:defRPr>
            </a:pPr>
            <a:r>
              <a:t>Hard Gating is already active for selected CSIDs and is expanding in phases.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0" y="6547104"/>
            <a:ext cx="3566160" cy="146304"/>
          </a:xfrm>
          <a:prstGeom prst="rect">
            <a:avLst/>
          </a:prstGeom>
          <a:noFill/>
        </p:spPr>
        <p:txBody>
          <a:bodyPr wrap="none" lIns="54864" rIns="54864" tIns="18288" bIns="18288">
            <a:spAutoFit/>
          </a:bodyPr>
          <a:lstStyle/>
          <a:p>
            <a:pPr algn="r">
              <a:defRPr sz="800" b="1">
                <a:solidFill>
                  <a:srgbClr val="195EB4"/>
                </a:solidFill>
                <a:latin typeface="Aptos"/>
              </a:defRPr>
            </a:pPr>
            <a:r>
              <a:t>Today's VSaaS Report = Tomorrow's Gate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